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C9D8CF"/>
                </a:solidFill>
                <a:latin typeface="Aptos"/>
              </a:defRPr>
            </a:pPr>
            <a:r>
              <a:t>PROBLEM STATEMENT 10  /  DOCUMENT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3900" b="0" i="0">
                <a:solidFill>
                  <a:srgbClr val="FFFFFF"/>
                </a:solidFill>
                <a:latin typeface="Georgia"/>
              </a:defRPr>
            </a:pPr>
            <a:r>
              <a:t>Contract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3900" b="0" i="0">
                <a:solidFill>
                  <a:srgbClr val="FFFFFF"/>
                </a:solidFill>
                <a:latin typeface="Georgia"/>
              </a:defRPr>
            </a:pPr>
            <a:r>
              <a:t>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2999232"/>
            <a:ext cx="53035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800" b="0" i="0">
                <a:solidFill>
                  <a:srgbClr val="E0E9E3"/>
                </a:solidFill>
                <a:latin typeface="Aptos"/>
              </a:defRPr>
            </a:pPr>
            <a:r>
              <a:t>Private, evidence-grounded contract review powered by local AI.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50392" y="4005072"/>
            <a:ext cx="4178808" cy="0"/>
          </a:xfrm>
          <a:prstGeom prst="line">
            <a:avLst/>
          </a:prstGeom>
          <a:ln w="13970">
            <a:solidFill>
              <a:srgbClr val="6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0392" y="42519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 i="0">
                <a:solidFill>
                  <a:srgbClr val="C9D8CF"/>
                </a:solidFill>
                <a:latin typeface="Aptos"/>
              </a:defRPr>
            </a:pPr>
            <a:r>
              <a:t>PDF + DOCX  |  OLLAMA  |  NO CLOUD INFERENCE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1060704"/>
            <a:ext cx="3246120" cy="4160520"/>
          </a:xfrm>
          <a:prstGeom prst="rect">
            <a:avLst/>
          </a:prstGeom>
          <a:solidFill>
            <a:srgbClr val="29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77456" y="1307592"/>
            <a:ext cx="3246120" cy="4160520"/>
          </a:xfrm>
          <a:prstGeom prst="rect">
            <a:avLst/>
          </a:prstGeom>
          <a:solidFill>
            <a:srgbClr val="DCE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84848" y="1554480"/>
            <a:ext cx="3246120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18470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286855"/>
                </a:solidFill>
                <a:latin typeface="Aptos"/>
              </a:defRPr>
            </a:pPr>
            <a:r>
              <a:t>MASTER SERVICES AGREEMENT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2267712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800" b="0" i="0">
                <a:solidFill>
                  <a:srgbClr val="20312D"/>
                </a:solidFill>
                <a:latin typeface="Georgia"/>
              </a:defRPr>
            </a:pPr>
            <a:r>
              <a:t>Agreement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 i="0">
                <a:solidFill>
                  <a:srgbClr val="20312D"/>
                </a:solidFill>
                <a:latin typeface="Georgia"/>
              </a:defRPr>
            </a:pPr>
            <a:r>
              <a:t>between the parties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3127248"/>
            <a:ext cx="2487168" cy="50292"/>
          </a:xfrm>
          <a:prstGeom prst="rect">
            <a:avLst/>
          </a:prstGeom>
          <a:solidFill>
            <a:srgbClr val="D9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3383280"/>
            <a:ext cx="2249424" cy="50292"/>
          </a:xfrm>
          <a:prstGeom prst="rect">
            <a:avLst/>
          </a:prstGeom>
          <a:solidFill>
            <a:srgbClr val="D9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3639312"/>
            <a:ext cx="2404872" cy="50292"/>
          </a:xfrm>
          <a:prstGeom prst="rect">
            <a:avLst/>
          </a:prstGeom>
          <a:solidFill>
            <a:srgbClr val="D9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0" y="4169663"/>
            <a:ext cx="2395728" cy="50292"/>
          </a:xfrm>
          <a:prstGeom prst="rect">
            <a:avLst/>
          </a:prstGeom>
          <a:solidFill>
            <a:srgbClr val="D9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4425696"/>
            <a:ext cx="2148840" cy="50292"/>
          </a:xfrm>
          <a:prstGeom prst="rect">
            <a:avLst/>
          </a:prstGeom>
          <a:solidFill>
            <a:srgbClr val="D9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4681728"/>
            <a:ext cx="2468880" cy="50292"/>
          </a:xfrm>
          <a:prstGeom prst="rect">
            <a:avLst/>
          </a:prstGeom>
          <a:solidFill>
            <a:srgbClr val="D9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14032" y="3849624"/>
            <a:ext cx="1828800" cy="173736"/>
          </a:xfrm>
          <a:prstGeom prst="rect">
            <a:avLst/>
          </a:prstGeom>
          <a:solidFill>
            <a:srgbClr val="F2E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2057400"/>
            <a:ext cx="1234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D9E5DE"/>
                </a:solidFill>
                <a:latin typeface="Aptos"/>
              </a:defRPr>
            </a:pPr>
            <a:r>
              <a:t>SOURCE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D9E5DE"/>
                </a:solidFill>
                <a:latin typeface="Aptos"/>
              </a:defRPr>
            </a:pPr>
            <a:r>
              <a:t>LINKED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9528048" y="2377440"/>
            <a:ext cx="731520" cy="256032"/>
          </a:xfrm>
          <a:prstGeom prst="line">
            <a:avLst/>
          </a:prstGeom>
          <a:ln w="19050">
            <a:solidFill>
              <a:srgbClr val="C86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994392" y="2084831"/>
            <a:ext cx="109728" cy="109728"/>
          </a:xfrm>
          <a:prstGeom prst="ellipse">
            <a:avLst/>
          </a:prstGeom>
          <a:solidFill>
            <a:srgbClr val="C8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496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B9C8C0"/>
                </a:solidFill>
                <a:latin typeface="Aptos"/>
              </a:defRPr>
            </a:pPr>
            <a:r>
              <a:t>CONTRACT DESK  /  HACKATHON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B9C8C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286855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0" i="0">
                <a:solidFill>
                  <a:srgbClr val="20312D"/>
                </a:solidFill>
                <a:latin typeface="Georgia"/>
              </a:defRPr>
            </a:pPr>
            <a:r>
              <a:t>Contract review is slow, scattered, and hard to verify.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63716B"/>
                </a:solidFill>
                <a:latin typeface="Aptos"/>
              </a:defRPr>
            </a:pPr>
            <a:r>
              <a:t>Important terms are buried across lengthy agreements, while every answer still needs a reliable source.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63716B"/>
                </a:solidFill>
                <a:latin typeface="Aptos"/>
              </a:defRPr>
            </a:pPr>
            <a:r>
              <a:t>CONTRACT DESK  /  HACKATHON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63716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48840"/>
            <a:ext cx="594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28685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057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800" b="1" i="0">
                <a:solidFill>
                  <a:srgbClr val="20312D"/>
                </a:solidFill>
                <a:latin typeface="Aptos"/>
              </a:defRPr>
            </a:pPr>
            <a:r>
              <a:t>Time-consuming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075688"/>
            <a:ext cx="6080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63716B"/>
                </a:solidFill>
                <a:latin typeface="Aptos"/>
              </a:defRPr>
            </a:pPr>
            <a:r>
              <a:t>Payment, renewal, and liability terms may sit dozens of pages apart.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779776"/>
            <a:ext cx="10195560" cy="0"/>
          </a:xfrm>
          <a:prstGeom prst="line">
            <a:avLst/>
          </a:prstGeom>
          <a:ln w="1270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6384" y="3191256"/>
            <a:ext cx="594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C86B5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099815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800" b="1" i="0">
                <a:solidFill>
                  <a:srgbClr val="20312D"/>
                </a:solidFill>
                <a:latin typeface="Aptos"/>
              </a:defRPr>
            </a:pPr>
            <a:r>
              <a:t>Evidence is easy to lose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118103"/>
            <a:ext cx="6080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63716B"/>
                </a:solidFill>
                <a:latin typeface="Aptos"/>
              </a:defRPr>
            </a:pPr>
            <a:r>
              <a:t>A useful summary is not enough if reviewers cannot return to the exact clause.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3822191"/>
            <a:ext cx="10195560" cy="0"/>
          </a:xfrm>
          <a:prstGeom prst="line">
            <a:avLst/>
          </a:prstGeom>
          <a:ln w="1270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6384" y="4233671"/>
            <a:ext cx="594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28685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14223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800" b="1" i="0">
                <a:solidFill>
                  <a:srgbClr val="20312D"/>
                </a:solidFill>
                <a:latin typeface="Aptos"/>
              </a:defRPr>
            </a:pPr>
            <a:r>
              <a:t>Privacy and trust matter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160519"/>
            <a:ext cx="6080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63716B"/>
                </a:solidFill>
                <a:latin typeface="Aptos"/>
              </a:defRPr>
            </a:pPr>
            <a:r>
              <a:t>Sensitive agreements should not need to leave a lawyer's local environment.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5394960"/>
            <a:ext cx="10561320" cy="594360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555955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17463B"/>
                </a:solidFill>
                <a:latin typeface="Aptos"/>
              </a:defRPr>
            </a:pPr>
            <a:r>
              <a:t>Opportunity: make contract answers faster to find, easier to verify, and private by default.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286855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0" i="0">
                <a:solidFill>
                  <a:srgbClr val="20312D"/>
                </a:solidFill>
                <a:latin typeface="Georgia"/>
              </a:defRPr>
            </a:pPr>
            <a:r>
              <a:t>One contract. Four focused review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63716B"/>
                </a:solidFill>
                <a:latin typeface="Aptos"/>
              </a:defRPr>
            </a:pPr>
            <a:r>
              <a:t>Contract Desk turns local documents into a source-linked workspace for everyday review.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63716B"/>
                </a:solidFill>
                <a:latin typeface="Aptos"/>
              </a:defRPr>
            </a:pPr>
            <a:r>
              <a:t>CONTRACT DESK  /  HACKATHON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63716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975104"/>
            <a:ext cx="516636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975104"/>
            <a:ext cx="50292" cy="1417320"/>
          </a:xfrm>
          <a:prstGeom prst="rect">
            <a:avLst/>
          </a:prstGeom>
          <a:solidFill>
            <a:srgbClr val="286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5798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 i="0">
                <a:solidFill>
                  <a:srgbClr val="28685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148840"/>
            <a:ext cx="4352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 i="0">
                <a:solidFill>
                  <a:srgbClr val="20312D"/>
                </a:solidFill>
                <a:latin typeface="Aptos"/>
              </a:defRPr>
            </a:pPr>
            <a: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15184"/>
            <a:ext cx="4764024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63716B"/>
                </a:solidFill>
                <a:latin typeface="Aptos"/>
              </a:defRPr>
            </a:pPr>
            <a:r>
              <a:t>Ask plain-language questions and get an answer grounded in retrieved contract passages.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975104"/>
            <a:ext cx="516636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1975104"/>
            <a:ext cx="50292" cy="1417320"/>
          </a:xfrm>
          <a:prstGeom prst="rect">
            <a:avLst/>
          </a:prstGeom>
          <a:solidFill>
            <a:srgbClr val="C8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5798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 i="0">
                <a:solidFill>
                  <a:srgbClr val="C86B5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2148840"/>
            <a:ext cx="4352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 i="0">
                <a:solidFill>
                  <a:srgbClr val="20312D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15184"/>
            <a:ext cx="4764024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63716B"/>
                </a:solidFill>
                <a:latin typeface="Aptos"/>
              </a:defRPr>
            </a:pPr>
            <a:r>
              <a:t>Surface payment, termination, confidentiality, liability, indemnity, governing law, SLA, and remedies.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3657600"/>
            <a:ext cx="516636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3657600"/>
            <a:ext cx="50292" cy="1417320"/>
          </a:xfrm>
          <a:prstGeom prst="rect">
            <a:avLst/>
          </a:prstGeom>
          <a:solidFill>
            <a:srgbClr val="C49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4048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 i="0">
                <a:solidFill>
                  <a:srgbClr val="C49A5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831336"/>
            <a:ext cx="4352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 i="0">
                <a:solidFill>
                  <a:srgbClr val="20312D"/>
                </a:solidFill>
                <a:latin typeface="Aptos"/>
              </a:defRPr>
            </a:pPr>
            <a:r>
              <a:t>Summarize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97680"/>
            <a:ext cx="4764024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63716B"/>
                </a:solidFill>
                <a:latin typeface="Aptos"/>
              </a:defRPr>
            </a:pPr>
            <a:r>
              <a:t>Build a concise overview from selected passages, with missing topics called out.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3657600"/>
            <a:ext cx="516636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3657600"/>
            <a:ext cx="50292" cy="1417320"/>
          </a:xfrm>
          <a:prstGeom prst="rect">
            <a:avLst/>
          </a:prstGeom>
          <a:solidFill>
            <a:srgbClr val="174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84048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1" i="0">
                <a:solidFill>
                  <a:srgbClr val="17463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3831336"/>
            <a:ext cx="4352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 i="0">
                <a:solidFill>
                  <a:srgbClr val="20312D"/>
                </a:solidFill>
                <a:latin typeface="Aptos"/>
              </a:defRPr>
            </a:pPr>
            <a:r>
              <a:t>Flag attention 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297680"/>
            <a:ext cx="4764024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63716B"/>
                </a:solidFill>
                <a:latin typeface="Aptos"/>
              </a:defRPr>
            </a:pPr>
            <a:r>
              <a:t>Highlight specific provisions for lawyer review without labeling them definitively unlawful.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32120"/>
            <a:ext cx="10332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 i="1">
                <a:solidFill>
                  <a:srgbClr val="63716B"/>
                </a:solidFill>
                <a:latin typeface="Aptos"/>
              </a:defRPr>
            </a:pPr>
            <a:r>
              <a:t>Designed as a legal-document assistant, not a general-purpose chatbot or substitute for legal judgment.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286855"/>
                </a:solidFill>
                <a:latin typeface="Aptos"/>
              </a:defRPr>
            </a:pPr>
            <a:r>
              <a:t>DESIGN · RETRIEVAL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0" i="0">
                <a:solidFill>
                  <a:srgbClr val="20312D"/>
                </a:solidFill>
                <a:latin typeface="Georgia"/>
              </a:defRPr>
            </a:pPr>
            <a:r>
              <a:t>From uploaded clause to cited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63716B"/>
                </a:solidFill>
                <a:latin typeface="Aptos"/>
              </a:defRPr>
            </a:pPr>
            <a:r>
              <a:t>A focused RAG pipeline keeps the source attached at every step.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63716B"/>
                </a:solidFill>
                <a:latin typeface="Aptos"/>
              </a:defRPr>
            </a:pPr>
            <a:r>
              <a:t>CONTRACT DESK  /  HACKATHON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63716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304288"/>
            <a:ext cx="1572768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2304288"/>
            <a:ext cx="1572768" cy="68580"/>
          </a:xfrm>
          <a:prstGeom prst="rect">
            <a:avLst/>
          </a:prstGeom>
          <a:solidFill>
            <a:srgbClr val="286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 i="0">
                <a:solidFill>
                  <a:srgbClr val="28685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12801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 i="0">
                <a:solidFill>
                  <a:srgbClr val="20312D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 i="0">
                <a:solidFill>
                  <a:srgbClr val="63716B"/>
                </a:solidFill>
                <a:latin typeface="Aptos"/>
              </a:defRPr>
            </a:pPr>
            <a:r>
              <a:t>PDF or DOCX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40864" y="2926080"/>
            <a:ext cx="530352" cy="0"/>
          </a:xfrm>
          <a:prstGeom prst="line">
            <a:avLst/>
          </a:prstGeom>
          <a:ln w="16510">
            <a:solidFill>
              <a:srgbClr val="94A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evron 13"/>
          <p:cNvSpPr/>
          <p:nvPr/>
        </p:nvSpPr>
        <p:spPr>
          <a:xfrm>
            <a:off x="2843784" y="2862072"/>
            <a:ext cx="128016" cy="128016"/>
          </a:xfrm>
          <a:prstGeom prst="chevron">
            <a:avLst/>
          </a:prstGeom>
          <a:solidFill>
            <a:srgbClr val="94A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62656" y="2304288"/>
            <a:ext cx="1572768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62656" y="2304288"/>
            <a:ext cx="1572768" cy="68580"/>
          </a:xfrm>
          <a:prstGeom prst="rect">
            <a:avLst/>
          </a:prstGeom>
          <a:solidFill>
            <a:srgbClr val="C8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18104" y="251460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 i="0">
                <a:solidFill>
                  <a:srgbClr val="C86B5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104" y="2834640"/>
            <a:ext cx="12801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 i="0">
                <a:solidFill>
                  <a:srgbClr val="20312D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21868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 i="0">
                <a:solidFill>
                  <a:srgbClr val="63716B"/>
                </a:solidFill>
                <a:latin typeface="Aptos"/>
              </a:defRPr>
            </a:pPr>
            <a:r>
              <a:t>Text + location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90288" y="2926080"/>
            <a:ext cx="530352" cy="0"/>
          </a:xfrm>
          <a:prstGeom prst="line">
            <a:avLst/>
          </a:prstGeom>
          <a:ln w="16510">
            <a:solidFill>
              <a:srgbClr val="94A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evron 20"/>
          <p:cNvSpPr/>
          <p:nvPr/>
        </p:nvSpPr>
        <p:spPr>
          <a:xfrm>
            <a:off x="5093208" y="2862072"/>
            <a:ext cx="128016" cy="128016"/>
          </a:xfrm>
          <a:prstGeom prst="chevron">
            <a:avLst/>
          </a:prstGeom>
          <a:solidFill>
            <a:srgbClr val="94A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2080" y="2304288"/>
            <a:ext cx="1572768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12080" y="2304288"/>
            <a:ext cx="1572768" cy="68580"/>
          </a:xfrm>
          <a:prstGeom prst="rect">
            <a:avLst/>
          </a:prstGeom>
          <a:solidFill>
            <a:srgbClr val="C49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7528" y="251460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 i="0">
                <a:solidFill>
                  <a:srgbClr val="C49A5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7528" y="2834640"/>
            <a:ext cx="12801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 i="0">
                <a:solidFill>
                  <a:srgbClr val="20312D"/>
                </a:solidFill>
                <a:latin typeface="Aptos"/>
              </a:defRPr>
            </a:pPr>
            <a:r>
              <a:t>Embed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321868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 i="0">
                <a:solidFill>
                  <a:srgbClr val="63716B"/>
                </a:solidFill>
                <a:latin typeface="Aptos"/>
              </a:defRPr>
            </a:pPr>
            <a:r>
              <a:t>Ollama vectors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39712" y="2926080"/>
            <a:ext cx="530352" cy="0"/>
          </a:xfrm>
          <a:prstGeom prst="line">
            <a:avLst/>
          </a:prstGeom>
          <a:ln w="16510">
            <a:solidFill>
              <a:srgbClr val="94A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hevron 27"/>
          <p:cNvSpPr/>
          <p:nvPr/>
        </p:nvSpPr>
        <p:spPr>
          <a:xfrm>
            <a:off x="7342631" y="2862072"/>
            <a:ext cx="128016" cy="128016"/>
          </a:xfrm>
          <a:prstGeom prst="chevron">
            <a:avLst/>
          </a:prstGeom>
          <a:solidFill>
            <a:srgbClr val="94A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61504" y="2304288"/>
            <a:ext cx="1572768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61504" y="2304288"/>
            <a:ext cx="1572768" cy="68580"/>
          </a:xfrm>
          <a:prstGeom prst="rect">
            <a:avLst/>
          </a:prstGeom>
          <a:solidFill>
            <a:srgbClr val="286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16952" y="251460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 i="0">
                <a:solidFill>
                  <a:srgbClr val="28685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2" y="2834640"/>
            <a:ext cx="12801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 i="0">
                <a:solidFill>
                  <a:srgbClr val="20312D"/>
                </a:solidFill>
                <a:latin typeface="Aptos"/>
              </a:defRPr>
            </a:pPr>
            <a:r>
              <a:t>Retrieve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6952" y="321868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 i="0">
                <a:solidFill>
                  <a:srgbClr val="63716B"/>
                </a:solidFill>
                <a:latin typeface="Aptos"/>
              </a:defRPr>
            </a:pPr>
            <a:r>
              <a:t>Cosine ranking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89136" y="2926080"/>
            <a:ext cx="530352" cy="0"/>
          </a:xfrm>
          <a:prstGeom prst="line">
            <a:avLst/>
          </a:prstGeom>
          <a:ln w="16510">
            <a:solidFill>
              <a:srgbClr val="94A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hevron 34"/>
          <p:cNvSpPr/>
          <p:nvPr/>
        </p:nvSpPr>
        <p:spPr>
          <a:xfrm>
            <a:off x="9592055" y="2862072"/>
            <a:ext cx="128016" cy="128016"/>
          </a:xfrm>
          <a:prstGeom prst="chevron">
            <a:avLst/>
          </a:prstGeom>
          <a:solidFill>
            <a:srgbClr val="94A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10928" y="2304288"/>
            <a:ext cx="1572768" cy="12435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10928" y="2304288"/>
            <a:ext cx="1572768" cy="68580"/>
          </a:xfrm>
          <a:prstGeom prst="rect">
            <a:avLst/>
          </a:prstGeom>
          <a:solidFill>
            <a:srgbClr val="C8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66376" y="2514600"/>
            <a:ext cx="420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 i="0">
                <a:solidFill>
                  <a:srgbClr val="C86B5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66376" y="2834640"/>
            <a:ext cx="12801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 i="0">
                <a:solidFill>
                  <a:srgbClr val="20312D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6376" y="321868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 i="0">
                <a:solidFill>
                  <a:srgbClr val="63716B"/>
                </a:solidFill>
                <a:latin typeface="Aptos"/>
              </a:defRPr>
            </a:pPr>
            <a:r>
              <a:t>Answer + evidence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4160520"/>
            <a:ext cx="10561320" cy="1078992"/>
          </a:xfrm>
          <a:prstGeom prst="rect">
            <a:avLst/>
          </a:prstGeom>
          <a:solidFill>
            <a:srgbClr val="174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379976"/>
            <a:ext cx="1828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 i="0">
                <a:solidFill>
                  <a:srgbClr val="D1E1D8"/>
                </a:solidFill>
                <a:latin typeface="Aptos"/>
              </a:defRPr>
            </a:pPr>
            <a:r>
              <a:t>SOURCE PRESERVED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4334256"/>
            <a:ext cx="79552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PDF: page number     DOCX: heading + paragraph/table row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05840" y="4791456"/>
            <a:ext cx="9921240" cy="0"/>
          </a:xfrm>
          <a:prstGeom prst="line">
            <a:avLst/>
          </a:prstGeom>
          <a:ln w="10160">
            <a:solidFill>
              <a:srgbClr val="527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05840" y="4928616"/>
            <a:ext cx="9875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 i="0">
                <a:solidFill>
                  <a:srgbClr val="D1E1D8"/>
                </a:solidFill>
                <a:latin typeface="Aptos"/>
              </a:defRPr>
            </a:pPr>
            <a:r>
              <a:t>Weak retrieval -&gt; abstain     |     Invalid citation -&gt; request a cited rewrite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286855"/>
                </a:solidFill>
                <a:latin typeface="Aptos"/>
              </a:defRPr>
            </a:pPr>
            <a:r>
              <a:t>PRODUCT DEMO · SYNTHETIC AGREEMENT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0" i="0">
                <a:solidFill>
                  <a:srgbClr val="20312D"/>
                </a:solidFill>
                <a:latin typeface="Georgia"/>
              </a:defRPr>
            </a:pPr>
            <a:r>
              <a:t>A useful answer comes with a trail back to the 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63716B"/>
                </a:solidFill>
                <a:latin typeface="Aptos"/>
              </a:defRPr>
            </a:pPr>
            <a:r>
              <a:t>Example from the included fictional test contract; names and terms are invented.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63716B"/>
                </a:solidFill>
                <a:latin typeface="Aptos"/>
              </a:defRPr>
            </a:pPr>
            <a:r>
              <a:t>CONTRACT DESK  /  HACKATHON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63716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2011680"/>
            <a:ext cx="6537960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9514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286855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15184"/>
            <a:ext cx="56235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100" b="0" i="0">
                <a:solidFill>
                  <a:srgbClr val="20312D"/>
                </a:solidFill>
                <a:latin typeface="Georgia"/>
              </a:defRPr>
            </a:pPr>
            <a:r>
              <a:t>Who are the parties involved?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1560" y="3273552"/>
            <a:ext cx="5897880" cy="0"/>
          </a:xfrm>
          <a:prstGeom prst="line">
            <a:avLst/>
          </a:prstGeom>
          <a:ln w="1270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51560" y="349300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286855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03904"/>
            <a:ext cx="5532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700" b="1" i="0">
                <a:solidFill>
                  <a:srgbClr val="20312D"/>
                </a:solidFill>
                <a:latin typeface="Aptos"/>
              </a:defRPr>
            </a:pPr>
            <a:r>
              <a:t>Redwood Sample Systems LLC is the Customer; Harborlight Test Services, Inc. is the Provider.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4773168"/>
            <a:ext cx="1874519" cy="393192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6460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286855"/>
                </a:solidFill>
                <a:latin typeface="Aptos"/>
              </a:defRPr>
            </a:pPr>
            <a:r>
              <a:t>EVIDENCE 1  ·  DOCX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2011680"/>
            <a:ext cx="3675887" cy="1463040"/>
          </a:xfrm>
          <a:prstGeom prst="rect">
            <a:avLst/>
          </a:prstGeom>
          <a:solidFill>
            <a:srgbClr val="F2E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26771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795E2F"/>
                </a:solidFill>
                <a:latin typeface="Aptos"/>
              </a:defRPr>
            </a:pPr>
            <a:r>
              <a:t>SUPPORTED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624328"/>
            <a:ext cx="2971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20312D"/>
                </a:solidFill>
                <a:latin typeface="Aptos"/>
              </a:defRPr>
            </a:pPr>
            <a:r>
              <a:t>Monthly fee: $1,200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20312D"/>
                </a:solidFill>
                <a:latin typeface="Aptos"/>
              </a:defRPr>
            </a:pPr>
            <a:r>
              <a:t>Payment: due in 30 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3730752"/>
            <a:ext cx="3675887" cy="1682496"/>
          </a:xfrm>
          <a:prstGeom prst="rect">
            <a:avLst/>
          </a:prstGeom>
          <a:solidFill>
            <a:srgbClr val="F5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399592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8C4936"/>
                </a:solidFill>
                <a:latin typeface="Aptos"/>
              </a:defRPr>
            </a:pPr>
            <a:r>
              <a:t>ABSENT-TERM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352544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20312D"/>
                </a:solidFill>
                <a:latin typeface="Aptos"/>
              </a:defRPr>
            </a:pPr>
            <a:r>
              <a:t>Ask about a $5M cyber-insurance duty.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20312D"/>
                </a:solidFill>
                <a:latin typeface="Aptos"/>
              </a:defRPr>
            </a:pPr>
            <a:r>
              <a:t>No such requirement appears in this sample.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286855"/>
                </a:solidFill>
                <a:latin typeface="Aptos"/>
              </a:defRPr>
            </a:pPr>
            <a:r>
              <a:t>TRUST · PRIVACY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0" i="0">
                <a:solidFill>
                  <a:srgbClr val="20312D"/>
                </a:solidFill>
                <a:latin typeface="Georgia"/>
              </a:defRPr>
            </a:pPr>
            <a:r>
              <a:t>Local-first by design. Evidence-first by default.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63716B"/>
                </a:solidFill>
                <a:latin typeface="Aptos"/>
              </a:defRPr>
            </a:pPr>
            <a:r>
              <a:t>The system is deliberately narrow: analyze the supplied contract, not the open web.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63716B"/>
                </a:solidFill>
                <a:latin typeface="Aptos"/>
              </a:defRPr>
            </a:pPr>
            <a:r>
              <a:t>CONTRACT DESK  /  HACKATHON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63716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" y="1965960"/>
            <a:ext cx="4846320" cy="3493008"/>
          </a:xfrm>
          <a:prstGeom prst="rect">
            <a:avLst/>
          </a:prstGeom>
          <a:solidFill>
            <a:srgbClr val="174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28600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 i="0">
                <a:solidFill>
                  <a:srgbClr val="C7D8CE"/>
                </a:solidFill>
                <a:latin typeface="Aptos"/>
              </a:defRPr>
            </a:pPr>
            <a:r>
              <a:t>LOCAL 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761488"/>
            <a:ext cx="406908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300" b="0" i="0">
                <a:solidFill>
                  <a:srgbClr val="FFFFFF"/>
                </a:solidFill>
                <a:latin typeface="Georgia"/>
              </a:defRPr>
            </a:pPr>
            <a:r>
              <a:t>Document text,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300" b="0" i="0">
                <a:solidFill>
                  <a:srgbClr val="FFFFFF"/>
                </a:solidFill>
                <a:latin typeface="Georgia"/>
              </a:defRPr>
            </a:pPr>
            <a:r>
              <a:t>embeddings, and chat stay local.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78992" y="3895344"/>
            <a:ext cx="4087368" cy="0"/>
          </a:xfrm>
          <a:prstGeom prst="line">
            <a:avLst/>
          </a:prstGeom>
          <a:ln w="12700">
            <a:solidFill>
              <a:srgbClr val="547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4151376"/>
            <a:ext cx="38862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E0EAE3"/>
                </a:solidFill>
                <a:latin typeface="Aptos"/>
              </a:defRPr>
            </a:pPr>
            <a:r>
              <a:t>Ollama runs on localhost. Uploaded content and the retrieval index are held in session memory, not written to the project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048256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 i="0">
                <a:solidFill>
                  <a:srgbClr val="28685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011680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20312D"/>
                </a:solidFill>
                <a:latin typeface="Aptos"/>
              </a:defRPr>
            </a:pPr>
            <a:r>
              <a:t>Passage-level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340864"/>
            <a:ext cx="4343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 i="0">
                <a:solidFill>
                  <a:srgbClr val="63716B"/>
                </a:solidFill>
                <a:latin typeface="Aptos"/>
              </a:defRPr>
            </a:pPr>
            <a:r>
              <a:t>Every retrieved item carries its PDF page or DOCX location.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889504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 i="0">
                <a:solidFill>
                  <a:srgbClr val="28685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852928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20312D"/>
                </a:solidFill>
                <a:latin typeface="Aptos"/>
              </a:defRPr>
            </a:pPr>
            <a:r>
              <a:t>Relevance threshold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182112"/>
            <a:ext cx="4343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 i="0">
                <a:solidFill>
                  <a:srgbClr val="63716B"/>
                </a:solidFill>
                <a:latin typeface="Aptos"/>
              </a:defRPr>
            </a:pPr>
            <a:r>
              <a:t>Low-scoring passages are excluded; no match means no generated answer.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730752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 i="0">
                <a:solidFill>
                  <a:srgbClr val="C86B5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694176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20312D"/>
                </a:solidFill>
                <a:latin typeface="Aptos"/>
              </a:defRPr>
            </a:pPr>
            <a:r>
              <a:t>Citation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023360"/>
            <a:ext cx="4343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 i="0">
                <a:solidFill>
                  <a:srgbClr val="63716B"/>
                </a:solidFill>
                <a:latin typeface="Aptos"/>
              </a:defRPr>
            </a:pPr>
            <a:r>
              <a:t>Uncited drafts get one repair attempt; invalid evidence references remain withheld.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572000"/>
            <a:ext cx="438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 i="0">
                <a:solidFill>
                  <a:srgbClr val="28685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535424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20312D"/>
                </a:solidFill>
                <a:latin typeface="Aptos"/>
              </a:defRPr>
            </a:pPr>
            <a:r>
              <a:t>Untrusted document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864608"/>
            <a:ext cx="4343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 i="0">
                <a:solidFill>
                  <a:srgbClr val="63716B"/>
                </a:solidFill>
                <a:latin typeface="Aptos"/>
              </a:defRPr>
            </a:pPr>
            <a:r>
              <a:t>Instructions embedded inside uploaded files are treated as data, not commands.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286855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0" i="0">
                <a:solidFill>
                  <a:srgbClr val="20312D"/>
                </a:solidFill>
                <a:latin typeface="Georgia"/>
              </a:defRPr>
            </a:pPr>
            <a:r>
              <a:t>A small, understandable stack - all on one machine.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63716B"/>
                </a:solidFill>
                <a:latin typeface="Aptos"/>
              </a:defRPr>
            </a:pPr>
            <a:r>
              <a:t>Python orchestrates ingestion and retrieval; Ollama supplies local embeddings and generation.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63716B"/>
                </a:solidFill>
                <a:latin typeface="Aptos"/>
              </a:defRPr>
            </a:pPr>
            <a:r>
              <a:t>CONTRACT DESK  /  HACKATHON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63716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56816"/>
            <a:ext cx="10607040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56816"/>
            <a:ext cx="73152" cy="740664"/>
          </a:xfrm>
          <a:prstGeom prst="rect">
            <a:avLst/>
          </a:prstGeom>
          <a:solidFill>
            <a:srgbClr val="286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84832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286855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057400"/>
            <a:ext cx="27889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20312D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093976"/>
            <a:ext cx="5440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 i="0">
                <a:solidFill>
                  <a:srgbClr val="63716B"/>
                </a:solidFill>
                <a:latin typeface="Aptos"/>
              </a:defRPr>
            </a:pPr>
            <a:r>
              <a:t>Upload · chat · clause checklist · summary · attention 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52928"/>
            <a:ext cx="10607040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852928"/>
            <a:ext cx="73152" cy="740664"/>
          </a:xfrm>
          <a:prstGeom prst="rect">
            <a:avLst/>
          </a:prstGeom>
          <a:solidFill>
            <a:srgbClr val="C8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980944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C86B50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53512"/>
            <a:ext cx="27889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20312D"/>
                </a:solidFill>
                <a:latin typeface="Aptos"/>
              </a:defRPr>
            </a:pPr>
            <a:r>
              <a:t>PyPDF + python-docx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990088"/>
            <a:ext cx="5440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 i="0">
                <a:solidFill>
                  <a:srgbClr val="63716B"/>
                </a:solidFill>
                <a:latin typeface="Aptos"/>
              </a:defRPr>
            </a:pPr>
            <a:r>
              <a:t>PDF page extraction · DOCX heading/paragraph/table locations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749039"/>
            <a:ext cx="10607040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749039"/>
            <a:ext cx="73152" cy="740664"/>
          </a:xfrm>
          <a:prstGeom prst="rect">
            <a:avLst/>
          </a:prstGeom>
          <a:solidFill>
            <a:srgbClr val="C49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877055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C49A58"/>
                </a:solidFill>
                <a:latin typeface="Aptos"/>
              </a:defRPr>
            </a:pPr>
            <a:r>
              <a:t>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849624"/>
            <a:ext cx="27889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20312D"/>
                </a:solidFill>
                <a:latin typeface="Aptos"/>
              </a:defRPr>
            </a:pPr>
            <a:r>
              <a:t>Ollama embeddings + NumPy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886200"/>
            <a:ext cx="5440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 i="0">
                <a:solidFill>
                  <a:srgbClr val="63716B"/>
                </a:solidFill>
                <a:latin typeface="Aptos"/>
              </a:defRPr>
            </a:pPr>
            <a:r>
              <a:t>nomic-embed-text · cosine similarity · top passages + cutoff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645152"/>
            <a:ext cx="10607040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645152"/>
            <a:ext cx="73152" cy="740664"/>
          </a:xfrm>
          <a:prstGeom prst="rect">
            <a:avLst/>
          </a:prstGeom>
          <a:solidFill>
            <a:srgbClr val="286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773168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286855"/>
                </a:solidFill>
                <a:latin typeface="Aptos"/>
              </a:defRPr>
            </a:pPr>
            <a:r>
              <a:t>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745736"/>
            <a:ext cx="278892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 i="0">
                <a:solidFill>
                  <a:srgbClr val="20312D"/>
                </a:solidFill>
                <a:latin typeface="Aptos"/>
              </a:defRPr>
            </a:pPr>
            <a:r>
              <a:t>Ollama chat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4782312"/>
            <a:ext cx="5440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 i="0">
                <a:solidFill>
                  <a:srgbClr val="63716B"/>
                </a:solidFill>
                <a:latin typeface="Aptos"/>
              </a:defRPr>
            </a:pPr>
            <a:r>
              <a:t>qwen3:1.7b · low-temperature answer generation · citation repair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5715000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 i="0">
                <a:solidFill>
                  <a:srgbClr val="17463B"/>
                </a:solidFill>
                <a:latin typeface="Aptos"/>
              </a:defRPr>
            </a:pPr>
            <a:r>
              <a:t>Runtime endpoint is restricted to localhost; no cloud LLM or external search is used.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286855"/>
                </a:solidFill>
                <a:latin typeface="Aptos"/>
              </a:defRPr>
            </a:pPr>
            <a:r>
              <a:t>VALIDATION ·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0" i="0">
                <a:solidFill>
                  <a:srgbClr val="20312D"/>
                </a:solidFill>
                <a:latin typeface="Georgia"/>
              </a:defRPr>
            </a:pPr>
            <a:r>
              <a:t>Working prototype, with clear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5331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63716B"/>
                </a:solidFill>
                <a:latin typeface="Aptos"/>
              </a:defRPr>
            </a:pPr>
            <a:r>
              <a:t>Show what is tested today and what the hackathon dataset should help us improve.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63716B"/>
                </a:solidFill>
                <a:latin typeface="Aptos"/>
              </a:defRPr>
            </a:pPr>
            <a:r>
              <a:t>CONTRACT DESK  /  HACKATHON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63716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84248"/>
            <a:ext cx="3246120" cy="3328416"/>
          </a:xfrm>
          <a:prstGeom prst="rect">
            <a:avLst/>
          </a:prstGeom>
          <a:solidFill>
            <a:srgbClr val="E8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304288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286855"/>
                </a:solidFill>
                <a:latin typeface="Aptos"/>
              </a:defRPr>
            </a:pPr>
            <a:r>
              <a:t>CURRENT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770632"/>
            <a:ext cx="25603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2800" b="0" i="0">
                <a:solidFill>
                  <a:srgbClr val="17463B"/>
                </a:solidFill>
                <a:latin typeface="Georgia"/>
              </a:defRPr>
            </a:pPr>
            <a:r>
              <a:t>9 tests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800" b="0" i="0">
                <a:solidFill>
                  <a:srgbClr val="17463B"/>
                </a:solidFill>
                <a:latin typeface="Georgia"/>
              </a:defRPr>
            </a:pPr>
            <a:r>
              <a:t>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3904487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20312D"/>
                </a:solidFill>
                <a:latin typeface="Aptos"/>
              </a:defRPr>
            </a:pPr>
            <a:r>
              <a:t>Extraction locations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20312D"/>
                </a:solidFill>
                <a:latin typeface="Aptos"/>
              </a:defRPr>
            </a:pPr>
            <a:r>
              <a:t>Chunk/source preservation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20312D"/>
                </a:solidFill>
                <a:latin typeface="Aptos"/>
              </a:defRPr>
            </a:pPr>
            <a:r>
              <a:t>Cosine ranking + abstention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20312D"/>
                </a:solidFill>
                <a:latin typeface="Aptos"/>
              </a:defRPr>
            </a:pPr>
            <a:r>
              <a:t>Citation repair behavior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05740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C86B50"/>
                </a:solidFill>
                <a:latin typeface="Aptos"/>
              </a:defRPr>
            </a:pPr>
            <a:r>
              <a:t>KNOWN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487168"/>
            <a:ext cx="292608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0312D"/>
                </a:solidFill>
                <a:latin typeface="Aptos"/>
              </a:defRPr>
            </a:pPr>
            <a:r>
              <a:t>Scanned PDFs need OCR. DOCX uses structural locations, not pages. Retrieval can miss clauses, and a small local model can still make mistakes.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98848" y="3657600"/>
            <a:ext cx="2862072" cy="0"/>
          </a:xfrm>
          <a:prstGeom prst="line">
            <a:avLst/>
          </a:prstGeom>
          <a:ln w="12700">
            <a:solidFill>
              <a:srgbClr val="D9E1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98848" y="3904487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286855"/>
                </a:solidFill>
                <a:latin typeface="Aptos"/>
              </a:defRPr>
            </a:pPr>
            <a:r>
              <a:t>NEXT FOR THE HACKATHON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4315968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0312D"/>
                </a:solidFill>
                <a:latin typeface="Aptos"/>
              </a:defRPr>
            </a:pPr>
            <a:r>
              <a:t>Evaluate against Master_Enterprise_Service_Agreement.pdf; tune retrieval thresholds; test the required payment, termination, SLA, liability, indemnity, confidentiality, and governing-law questions.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1984248"/>
            <a:ext cx="3337560" cy="3328416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304288"/>
            <a:ext cx="2761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C49A58"/>
                </a:solidFill>
                <a:latin typeface="Aptos"/>
              </a:defRPr>
            </a:pPr>
            <a:r>
              <a:t>DEMO SEQUENCE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47888" y="2743200"/>
            <a:ext cx="329184" cy="329184"/>
          </a:xfrm>
          <a:prstGeom prst="rect">
            <a:avLst/>
          </a:prstGeom>
          <a:solidFill>
            <a:srgbClr val="F2E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807208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795E2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779776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0312D"/>
                </a:solidFill>
                <a:latin typeface="Aptos"/>
              </a:defRPr>
            </a:pPr>
            <a:r>
              <a:t>Upload one agreement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7888" y="3319272"/>
            <a:ext cx="329184" cy="329184"/>
          </a:xfrm>
          <a:prstGeom prst="rect">
            <a:avLst/>
          </a:prstGeom>
          <a:solidFill>
            <a:srgbClr val="F2E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383279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795E2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335584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0312D"/>
                </a:solidFill>
                <a:latin typeface="Aptos"/>
              </a:defRPr>
            </a:pPr>
            <a:r>
              <a:t>Ask a clause question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47888" y="3895344"/>
            <a:ext cx="329184" cy="329184"/>
          </a:xfrm>
          <a:prstGeom prst="rect">
            <a:avLst/>
          </a:prstGeom>
          <a:solidFill>
            <a:srgbClr val="F2E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395935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795E2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9319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0312D"/>
                </a:solidFill>
                <a:latin typeface="Aptos"/>
              </a:defRPr>
            </a:pPr>
            <a:r>
              <a:t>Open cited 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4471416"/>
            <a:ext cx="329184" cy="329184"/>
          </a:xfrm>
          <a:prstGeom prst="rect">
            <a:avLst/>
          </a:prstGeom>
          <a:solidFill>
            <a:srgbClr val="F2E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4535424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795E2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50799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20312D"/>
                </a:solidFill>
                <a:latin typeface="Aptos"/>
              </a:defRPr>
            </a:pPr>
            <a:r>
              <a:t>Try an absent-term trap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566928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C9D8CF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93268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3200" b="0" i="0">
                <a:solidFill>
                  <a:srgbClr val="FFFFFF"/>
                </a:solidFill>
                <a:latin typeface="Georgia"/>
              </a:defRPr>
            </a:pPr>
            <a:r>
              <a:t>Built by the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64792"/>
            <a:ext cx="8686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 i="0">
                <a:solidFill>
                  <a:srgbClr val="D5E1D9"/>
                </a:solidFill>
                <a:latin typeface="Aptos"/>
              </a:defRPr>
            </a:pPr>
            <a:r>
              <a:t>Replace each editable placeholder with a project member's name and contribution.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2743200"/>
            <a:ext cx="4846319" cy="0"/>
          </a:xfrm>
          <a:prstGeom prst="line">
            <a:avLst/>
          </a:prstGeom>
          <a:ln w="12700">
            <a:solidFill>
              <a:srgbClr val="557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2926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 i="0">
                <a:solidFill>
                  <a:srgbClr val="C49A5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2456" y="2889504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900" b="0" i="0">
                <a:solidFill>
                  <a:srgbClr val="FFFFFF"/>
                </a:solidFill>
                <a:latin typeface="Georgia"/>
              </a:defRPr>
            </a:pPr>
            <a:r>
              <a:t>[Member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2456" y="3364992"/>
            <a:ext cx="4160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C9D8CF"/>
                </a:solidFill>
                <a:latin typeface="Aptos"/>
              </a:defRPr>
            </a:pPr>
            <a:r>
              <a:t>[Role / contribution]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63640" y="2743200"/>
            <a:ext cx="4846319" cy="0"/>
          </a:xfrm>
          <a:prstGeom prst="line">
            <a:avLst/>
          </a:prstGeom>
          <a:ln w="12700">
            <a:solidFill>
              <a:srgbClr val="557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63640" y="2926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 i="0">
                <a:solidFill>
                  <a:srgbClr val="C49A5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855" y="2889504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900" b="0" i="0">
                <a:solidFill>
                  <a:srgbClr val="FFFFFF"/>
                </a:solidFill>
                <a:latin typeface="Georgia"/>
              </a:defRPr>
            </a:pPr>
            <a:r>
              <a:t>[Member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855" y="3364992"/>
            <a:ext cx="4160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C9D8CF"/>
                </a:solidFill>
                <a:latin typeface="Aptos"/>
              </a:defRPr>
            </a:pPr>
            <a:r>
              <a:t>[Role / contribution]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4343400"/>
            <a:ext cx="4846319" cy="0"/>
          </a:xfrm>
          <a:prstGeom prst="line">
            <a:avLst/>
          </a:prstGeom>
          <a:ln w="12700">
            <a:solidFill>
              <a:srgbClr val="557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45262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 i="0">
                <a:solidFill>
                  <a:srgbClr val="C49A5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4489704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900" b="0" i="0">
                <a:solidFill>
                  <a:srgbClr val="FFFFFF"/>
                </a:solidFill>
                <a:latin typeface="Georgia"/>
              </a:defRPr>
            </a:pPr>
            <a:r>
              <a:t>[Member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2456" y="4965192"/>
            <a:ext cx="4160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C9D8CF"/>
                </a:solidFill>
                <a:latin typeface="Aptos"/>
              </a:defRPr>
            </a:pPr>
            <a:r>
              <a:t>[Role / contribution]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4343400"/>
            <a:ext cx="4846319" cy="0"/>
          </a:xfrm>
          <a:prstGeom prst="line">
            <a:avLst/>
          </a:prstGeom>
          <a:ln w="12700">
            <a:solidFill>
              <a:srgbClr val="557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3640" y="45262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1" i="0">
                <a:solidFill>
                  <a:srgbClr val="C49A5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855" y="4489704"/>
            <a:ext cx="4160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900" b="0" i="0">
                <a:solidFill>
                  <a:srgbClr val="FFFFFF"/>
                </a:solidFill>
                <a:latin typeface="Georgia"/>
              </a:defRPr>
            </a:pPr>
            <a:r>
              <a:t>[Member name]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8855" y="4965192"/>
            <a:ext cx="4160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 i="0">
                <a:solidFill>
                  <a:srgbClr val="C9D8CF"/>
                </a:solidFill>
                <a:latin typeface="Aptos"/>
              </a:defRPr>
            </a:pPr>
            <a:r>
              <a:t>[Role / contribution]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496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" y="653796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800" b="1" i="0">
                <a:solidFill>
                  <a:srgbClr val="B9C8C0"/>
                </a:solidFill>
                <a:latin typeface="Aptos"/>
              </a:defRPr>
            </a:pPr>
            <a:r>
              <a:t>CONTRACT DESK  /  HACKATHON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900" b="1" i="0">
                <a:solidFill>
                  <a:srgbClr val="B9C8C0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 Desk | Offline Legal Contract Intelligence</dc:title>
  <dc:subject>Hackathon solution presentation</dc:subject>
  <dc:creator>Contract Desk Project Team</dc:creator>
  <cp:keywords>legal, contracts, RAG, Ollama, offline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